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3167C-ACE6-43D2-9312-FA08178B4939}" v="1" dt="2026-06-08T01:03:21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Jiayan" userId="0dade1b4-ff38-45c9-a229-da6c30e6f4a2" providerId="ADAL" clId="{84E72977-DE30-4221-826D-58AFA8691057}"/>
    <pc:docChg chg="modSld">
      <pc:chgData name="WU Jiayan" userId="0dade1b4-ff38-45c9-a229-da6c30e6f4a2" providerId="ADAL" clId="{84E72977-DE30-4221-826D-58AFA8691057}" dt="2026-06-08T01:08:58.459" v="9" actId="14100"/>
      <pc:docMkLst>
        <pc:docMk/>
      </pc:docMkLst>
      <pc:sldChg chg="modSp mod">
        <pc:chgData name="WU Jiayan" userId="0dade1b4-ff38-45c9-a229-da6c30e6f4a2" providerId="ADAL" clId="{84E72977-DE30-4221-826D-58AFA8691057}" dt="2026-06-08T01:05:21.803" v="0" actId="14100"/>
        <pc:sldMkLst>
          <pc:docMk/>
          <pc:sldMk cId="0" sldId="261"/>
        </pc:sldMkLst>
        <pc:spChg chg="mod">
          <ac:chgData name="WU Jiayan" userId="0dade1b4-ff38-45c9-a229-da6c30e6f4a2" providerId="ADAL" clId="{84E72977-DE30-4221-826D-58AFA8691057}" dt="2026-06-08T01:05:21.803" v="0" actId="14100"/>
          <ac:spMkLst>
            <pc:docMk/>
            <pc:sldMk cId="0" sldId="261"/>
            <ac:spMk id="33" creationId="{00000000-0000-0000-0000-000000000000}"/>
          </ac:spMkLst>
        </pc:spChg>
      </pc:sldChg>
      <pc:sldChg chg="modSp mod">
        <pc:chgData name="WU Jiayan" userId="0dade1b4-ff38-45c9-a229-da6c30e6f4a2" providerId="ADAL" clId="{84E72977-DE30-4221-826D-58AFA8691057}" dt="2026-06-08T01:07:12.644" v="4" actId="14100"/>
        <pc:sldMkLst>
          <pc:docMk/>
          <pc:sldMk cId="0" sldId="264"/>
        </pc:sldMkLst>
        <pc:spChg chg="mod">
          <ac:chgData name="WU Jiayan" userId="0dade1b4-ff38-45c9-a229-da6c30e6f4a2" providerId="ADAL" clId="{84E72977-DE30-4221-826D-58AFA8691057}" dt="2026-06-08T01:07:12.644" v="4" actId="14100"/>
          <ac:spMkLst>
            <pc:docMk/>
            <pc:sldMk cId="0" sldId="264"/>
            <ac:spMk id="27" creationId="{00000000-0000-0000-0000-000000000000}"/>
          </ac:spMkLst>
        </pc:spChg>
      </pc:sldChg>
      <pc:sldChg chg="modSp mod">
        <pc:chgData name="WU Jiayan" userId="0dade1b4-ff38-45c9-a229-da6c30e6f4a2" providerId="ADAL" clId="{84E72977-DE30-4221-826D-58AFA8691057}" dt="2026-06-08T01:07:07.640" v="3" actId="14100"/>
        <pc:sldMkLst>
          <pc:docMk/>
          <pc:sldMk cId="0" sldId="267"/>
        </pc:sldMkLst>
        <pc:spChg chg="mod">
          <ac:chgData name="WU Jiayan" userId="0dade1b4-ff38-45c9-a229-da6c30e6f4a2" providerId="ADAL" clId="{84E72977-DE30-4221-826D-58AFA8691057}" dt="2026-06-08T01:07:04.784" v="2" actId="1410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WU Jiayan" userId="0dade1b4-ff38-45c9-a229-da6c30e6f4a2" providerId="ADAL" clId="{84E72977-DE30-4221-826D-58AFA8691057}" dt="2026-06-08T01:07:07.640" v="3" actId="14100"/>
          <ac:spMkLst>
            <pc:docMk/>
            <pc:sldMk cId="0" sldId="267"/>
            <ac:spMk id="22" creationId="{00000000-0000-0000-0000-000000000000}"/>
          </ac:spMkLst>
        </pc:spChg>
      </pc:sldChg>
      <pc:sldChg chg="modSp mod">
        <pc:chgData name="WU Jiayan" userId="0dade1b4-ff38-45c9-a229-da6c30e6f4a2" providerId="ADAL" clId="{84E72977-DE30-4221-826D-58AFA8691057}" dt="2026-06-08T01:08:38.292" v="8" actId="1076"/>
        <pc:sldMkLst>
          <pc:docMk/>
          <pc:sldMk cId="0" sldId="269"/>
        </pc:sldMkLst>
        <pc:spChg chg="mod">
          <ac:chgData name="WU Jiayan" userId="0dade1b4-ff38-45c9-a229-da6c30e6f4a2" providerId="ADAL" clId="{84E72977-DE30-4221-826D-58AFA8691057}" dt="2026-06-08T01:08:38.292" v="8" actId="107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WU Jiayan" userId="0dade1b4-ff38-45c9-a229-da6c30e6f4a2" providerId="ADAL" clId="{84E72977-DE30-4221-826D-58AFA8691057}" dt="2026-06-08T01:08:38.292" v="8" actId="1076"/>
          <ac:spMkLst>
            <pc:docMk/>
            <pc:sldMk cId="0" sldId="269"/>
            <ac:spMk id="34" creationId="{00000000-0000-0000-0000-000000000000}"/>
          </ac:spMkLst>
        </pc:spChg>
        <pc:spChg chg="mod">
          <ac:chgData name="WU Jiayan" userId="0dade1b4-ff38-45c9-a229-da6c30e6f4a2" providerId="ADAL" clId="{84E72977-DE30-4221-826D-58AFA8691057}" dt="2026-06-08T01:08:38.292" v="8" actId="107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WU Jiayan" userId="0dade1b4-ff38-45c9-a229-da6c30e6f4a2" providerId="ADAL" clId="{84E72977-DE30-4221-826D-58AFA8691057}" dt="2026-06-08T01:08:38.292" v="8" actId="1076"/>
          <ac:spMkLst>
            <pc:docMk/>
            <pc:sldMk cId="0" sldId="269"/>
            <ac:spMk id="36" creationId="{00000000-0000-0000-0000-000000000000}"/>
          </ac:spMkLst>
        </pc:spChg>
      </pc:sldChg>
      <pc:sldChg chg="modSp mod">
        <pc:chgData name="WU Jiayan" userId="0dade1b4-ff38-45c9-a229-da6c30e6f4a2" providerId="ADAL" clId="{84E72977-DE30-4221-826D-58AFA8691057}" dt="2026-06-08T01:08:58.459" v="9" actId="14100"/>
        <pc:sldMkLst>
          <pc:docMk/>
          <pc:sldMk cId="0" sldId="270"/>
        </pc:sldMkLst>
        <pc:spChg chg="mod">
          <ac:chgData name="WU Jiayan" userId="0dade1b4-ff38-45c9-a229-da6c30e6f4a2" providerId="ADAL" clId="{84E72977-DE30-4221-826D-58AFA8691057}" dt="2026-06-08T01:08:58.459" v="9" actId="14100"/>
          <ac:spMkLst>
            <pc:docMk/>
            <pc:sldMk cId="0" sldId="270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79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E3A6A">
              <a:alpha val="60000"/>
            </a:srgbClr>
          </a:solidFill>
          <a:ln w="12700">
            <a:solidFill>
              <a:srgbClr val="1E3A6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7863840" y="2560320"/>
            <a:ext cx="1828800" cy="1828800"/>
          </a:xfrm>
          <a:prstGeom prst="ellipse">
            <a:avLst/>
          </a:prstGeom>
          <a:solidFill>
            <a:srgbClr val="16325C">
              <a:alpha val="60000"/>
            </a:srgbClr>
          </a:solidFill>
          <a:ln w="12700">
            <a:solidFill>
              <a:srgbClr val="16325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7CB9F0"/>
                </a:solidFill>
              </a:rPr>
              <a:t>SMU STUDENT STARTUP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Business Plan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Competition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563A8"/>
                </a:solidFill>
              </a:rPr>
              <a:t>2027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2606040" cy="594360"/>
          </a:xfrm>
          <a:prstGeom prst="rect">
            <a:avLst/>
          </a:prstGeom>
          <a:solidFill>
            <a:srgbClr val="1E3560"/>
          </a:solidFill>
          <a:ln w="1016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48640" y="431596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B9F0"/>
                </a:solidFill>
              </a:rPr>
              <a:t>Applications Open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5079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Jan 2027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4297680"/>
            <a:ext cx="2606040" cy="594360"/>
          </a:xfrm>
          <a:prstGeom prst="rect">
            <a:avLst/>
          </a:prstGeom>
          <a:solidFill>
            <a:srgbClr val="1E3560"/>
          </a:solidFill>
          <a:ln w="1016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3383280" y="431596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B9F0"/>
                </a:solidFill>
              </a:rPr>
              <a:t>Applications Close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45079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31 Mar 2027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297680"/>
            <a:ext cx="2606040" cy="594360"/>
          </a:xfrm>
          <a:prstGeom prst="rect">
            <a:avLst/>
          </a:prstGeom>
          <a:solidFill>
            <a:srgbClr val="1E3560"/>
          </a:solidFill>
          <a:ln w="1016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217920" y="431596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B9F0"/>
                </a:solidFill>
              </a:rPr>
              <a:t>Results Announced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45079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 Jun 2027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Organized by Singapore Management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About This Competition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91440" cy="18288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563A8"/>
                </a:solidFill>
              </a:rPr>
              <a:t>100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Finalist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Startups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261872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2514600" y="1261872"/>
            <a:ext cx="91440" cy="1828800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2743200" y="1371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7A5E"/>
                </a:solidFill>
              </a:rPr>
              <a:t>10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69748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Expert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Judges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261872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617720" y="1261872"/>
            <a:ext cx="91440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45309"/>
                </a:solidFill>
              </a:rPr>
              <a:t>10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80060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Winners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Selected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261872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6720840" y="1261872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949440" y="1371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3AED"/>
                </a:solidFill>
              </a:rPr>
              <a:t>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90372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Months for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246120"/>
            <a:ext cx="8321040" cy="155448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594360" y="3355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8"/>
                </a:solidFill>
              </a:rPr>
              <a:t>Eligibility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630168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</a:rPr>
              <a:t>University students (undergraduate, postgraduate, doctoral) from any country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</a:rPr>
              <a:t>Recent alumni who graduated within the last 5 years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</a:rPr>
              <a:t>Teams of up to 5 members — at least 1 must be the lead founder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Five Core Operational Tasks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548640" y="1380744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48640" y="1380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" y="13075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Sourcing participants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56362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Attract 300–500 global applicants to select 100 finalists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502920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8138160" y="1371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947672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347472" cy="347472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48640" y="2093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2416" y="202082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Sourcing judges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22768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Identify and invite 25–30 candidates to confirm 10 experts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2084832"/>
            <a:ext cx="502920" cy="347472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8138160" y="20848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2660904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548640" y="280720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54864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2416" y="273405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Matching judges to participants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299008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Domain-aligned, conflict-free assignment with workload balance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2798064"/>
            <a:ext cx="502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8138160" y="279806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374136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548640" y="3520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2416" y="34472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Evaluating pitch decks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2416" y="3703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Structured async scoring using a 100-point rubric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0" y="3511296"/>
            <a:ext cx="502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8138160" y="35112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1480" y="4087368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4" name="Shape 32"/>
          <p:cNvSpPr/>
          <p:nvPr/>
        </p:nvSpPr>
        <p:spPr>
          <a:xfrm>
            <a:off x="548640" y="4233672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548640" y="4233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42416" y="416052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Choosing the top 10 winners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42416" y="44165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Quantitative ranking + deliberation panel + secret ballot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4224528"/>
            <a:ext cx="50292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8138160" y="42245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Each task is presented in two parts: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89120" y="4681728"/>
            <a:ext cx="1463040" cy="292608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4434840" y="47091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A8"/>
                </a:solidFill>
              </a:rPr>
              <a:t>Part A: Human approach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4681728"/>
            <a:ext cx="1463040" cy="292608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42"/>
          <p:cNvSpPr/>
          <p:nvPr/>
        </p:nvSpPr>
        <p:spPr>
          <a:xfrm>
            <a:off x="5989320" y="47091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A5E"/>
                </a:solidFill>
              </a:rPr>
              <a:t>Part B: Agentic AI approach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D4A">
              <a:alpha val="60000"/>
            </a:srgbClr>
          </a:solidFill>
          <a:ln w="12700">
            <a:solidFill>
              <a:srgbClr val="1A2D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563A8"/>
                </a:solidFill>
              </a:rPr>
              <a:t>TASK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Sourcing Startup Participants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6334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CC"/>
                </a:solidFill>
              </a:rPr>
              <a:t>Attracting 300–500 global applicants to select 100 finalists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1  ·  PART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Human Approach: Sourcing Participants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977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73152" cy="14173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8"/>
                </a:solidFill>
              </a:rPr>
              <a:t>University networks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A4A"/>
                </a:solidFill>
              </a:rPr>
              <a:t>Email entrepreneurship &amp; innovation office directors at 200 target universities. Provide a ready-to-use promo kit: one-pager, email template, social copy, poster.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3977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73152" cy="1417320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A5E"/>
                </a:solidFill>
              </a:rPr>
              <a:t>Startup ecosystem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7335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A4A"/>
                </a:solidFill>
              </a:rPr>
              <a:t>Reach out to BLOCK71, Antler, SGInnovate, Y Combinator Startup School, Techstars, and regional hubs in Jakarta, Bangalore, Lagos &amp; São Paulo.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3977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Digital &amp; social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2278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A4A"/>
                </a:solidFill>
              </a:rPr>
              <a:t>LinkedIn groups, Reddit, F6S, Startup Digest, and regional Telegram channels. Optional paid ads on LinkedIn (budget: S$3–8K) targeting student founders.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3977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617720" y="2788920"/>
            <a:ext cx="73152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Student ambassadors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2278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A4A"/>
                </a:solidFill>
              </a:rPr>
              <a:t>Recruit 10–15 ambassadors from key universities. Each runs a campus info session and recruits peers via personal referral link.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434840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521208" y="44805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Unique referral codes track each channel's conversion. Operations manager reviews application pace weekly and redirects effort if any channel underperforms.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1  ·  PART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Agentic AI Approach: Sourcing Participants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783080" cy="6858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691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Research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Agent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12848" y="1426464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783080" cy="6858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2514600" y="1261872"/>
            <a:ext cx="1691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Outreach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70248" y="1426464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1783080" cy="68580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4572000" y="1261872"/>
            <a:ext cx="1691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A5E"/>
                </a:solidFill>
              </a:rPr>
              <a:t>Human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7A5E"/>
                </a:solidFill>
              </a:rPr>
              <a:t>Approval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7648" y="1426464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1783080" cy="6858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629400" y="1261872"/>
            <a:ext cx="1691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Pipeline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Monitor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084832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411480" y="2084832"/>
            <a:ext cx="640080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448056" y="212140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21208" y="23591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University prospect finder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" y="263347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Crawls 200 university portals, extracts contact names &amp; emails, ranks by QS ranking and known startup activity. Output: structured spreadsheet ready for outreach.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084832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4617720" y="2084832"/>
            <a:ext cx="640080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654296" y="212140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27448" y="23591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Personalised email drafter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27448" y="263347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Generates tailored invitation emails per contact — personalised by university name and startup focus. Flags uncertain cases for human review before any send.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410712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411480" y="3410712"/>
            <a:ext cx="640080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448056" y="344728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1208" y="368503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Social listening 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" y="395935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Monitors LinkedIn and X for student founders who haven't applied yet. Drafts a DM template for human review — never sends autonomously.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410712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4617720" y="3410712"/>
            <a:ext cx="640080" cy="22860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4654296" y="3447288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A5E"/>
                </a:solidFill>
              </a:rPr>
              <a:t>Automated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27448" y="368503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Eligibility pre-screener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27448" y="395935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On each submission, auto-checks student status, documents, and team size. Auto-rejects ineligible applications; flags edge cases for human review within 48 hrs.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681728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521208" y="472744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No outreach email is sent without explicit human approval. ~120 staff-hours saved vs manual across the 3-month application window.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D4A">
              <a:alpha val="60000"/>
            </a:srgbClr>
          </a:solidFill>
          <a:ln w="12700">
            <a:solidFill>
              <a:srgbClr val="1A2D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A5E"/>
                </a:solidFill>
              </a:rPr>
              <a:t>TASK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Sourcing &amp; Inviting Judges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6334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CC"/>
                </a:solidFill>
              </a:rPr>
              <a:t>Confirm 10 judges by inviting 25–30 candidates. Start September 2026.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2  ·  PART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Human Approach: Sourcing Judges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920240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563A8"/>
                </a:solidFill>
              </a:rPr>
              <a:t>VCs &amp; Investors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280160" cy="274320"/>
          </a:xfrm>
          <a:prstGeom prst="rect">
            <a:avLst/>
          </a:prstGeom>
          <a:solidFill>
            <a:srgbClr val="2563A8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4–5 slots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A4A"/>
                </a:solidFill>
              </a:rPr>
              <a:t>Partners at SEA-focused funds: Sequoia SEA, Monk's Hill, Wavemaker, East Ventures. Angel investors and family office principals.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1920240" cy="73152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2606040" y="1371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A5E"/>
                </a:solidFill>
              </a:rPr>
              <a:t>Corporate Leaders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828800"/>
            <a:ext cx="1280160" cy="274320"/>
          </a:xfrm>
          <a:prstGeom prst="rect">
            <a:avLst/>
          </a:prstGeom>
          <a:solidFill>
            <a:srgbClr val="0E7A5E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283464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3–4 slots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06040" y="2176272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A4A"/>
                </a:solidFill>
              </a:rPr>
              <a:t>CTOs &amp; Chief Innovation Officers at MNCs with Singapore presence. Source from SMU IIE's existing corporate partner list first.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2344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617720" y="1234440"/>
            <a:ext cx="1920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709160" y="1371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C3AED"/>
                </a:solidFill>
              </a:rPr>
              <a:t>Successful Founders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828800"/>
            <a:ext cx="1280160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2–3 slots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176272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A4A"/>
                </a:solidFill>
              </a:rPr>
              <a:t>Founders who raised Series A+, exited, or scaled regionally. SMU alumni founders are highest-priority — most likely to accept.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2344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6720840" y="1234440"/>
            <a:ext cx="192024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6812280" y="1371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5309"/>
                </a:solidFill>
              </a:rPr>
              <a:t>Academics &amp; Policy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1828800"/>
            <a:ext cx="1280160" cy="27432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704088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1–2 slots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12280" y="2176272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A4A"/>
                </a:solidFill>
              </a:rPr>
              <a:t>SMU/NUS professors with entrepreneurship expertise. Optional: 1 government representative from EDB, A*STAR, or SGInnovate.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913632"/>
            <a:ext cx="83210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594360" y="40050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Invitation cadence: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420624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</a:rPr>
              <a:t>Wave 1 (Sep 2026): 15 candidates on SMU letterhead, signed by the Dean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</a:rPr>
              <a:t>Wave 2 (Oct 2026): 10 more if fewer than 8 have accepted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</a:rPr>
              <a:t>Wave 3 (Nov 2026): Fill remaining slots from reserve list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773168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521208" y="481888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Maintain a reserve list of 5 backup judges. Even confirmed judges cancel. Aim for ≥40% women and ≥5 nationalities on the panel.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2  ·  PART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Agentic AI Approach: Sourcing Judges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4805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21208" y="1508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Judge candidate researcher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8013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Searches LinkedIn, Crunchbase &amp; conference speaker lists. Scores 30 candidates 1–10 for relevance across the 4 judge profiles.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323697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Invitation letter drafter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8013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Composes personalised letters with the candidate's specific expertise and time commitment stated precisely. Draft sent to human for approval before any letter is dispatched.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11733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A5E"/>
                </a:solidFill>
              </a:rPr>
              <a:t>Automated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0488" y="1508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Follow-up scheduler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79222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Day 10: auto follow-up email. Day 20: flags for personal LinkedIn message. After 2 no-responses: advances next candidate on reserve list.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48056" y="282549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21208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Diversity gap analyser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334670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Tracks gender, nationality &amp; domain coverage in real time. Flags imbalances and suggests specific reserve candidates to improve panel balance.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7889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658368" cy="22860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4654296" y="2825496"/>
            <a:ext cx="6035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A5E"/>
                </a:solidFill>
              </a:rPr>
              <a:t>Automated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27448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Onboarding dispatcher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34670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On acceptance: auto-sends NDA (DocuSign), calendar invite, portal login, and briefing PDF. Zero manual coordination for paperwork.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325112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521208" y="43708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No invitation letter is sent without explicit human approval. The AI researches and drafts — humans decide who to invite and when.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D4A">
              <a:alpha val="60000"/>
            </a:srgbClr>
          </a:solidFill>
          <a:ln w="12700">
            <a:solidFill>
              <a:srgbClr val="1A2D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</a:rPr>
              <a:t>TASK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Matching Judges to Participants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6334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CC"/>
                </a:solidFill>
              </a:rPr>
              <a:t>Domain-aligned, conflict-free assignment with balanced workloads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3  ·  PART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Human Approach: Matching Judges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521208" y="1362456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21208" y="1362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2801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Tag all 100 startups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53619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Assign up to 3 sector tags from a fixed taxonomy: HealthTech, CleanEnergy, AgriTech, EdTech, FinTech, MobilityTech, DeepTech, B2B SaaS, Social Impact.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29384"/>
            <a:ext cx="83210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521208" y="2084832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21208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0025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Tag all judges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2585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Map each of the 10 judges to 2–3 domain expertise areas using the same taxonomy. Note preferred load (10 or 20 decks).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651760"/>
            <a:ext cx="83210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521208" y="2807208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521208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7249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Group into 10 panels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98094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Cluster 100 startups into 10 panels of 10, grouped by shared sector tag. Assign a primary (domain-matched) + secondary (generalist) judge to each.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374136"/>
            <a:ext cx="83210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521208" y="3529584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521208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4472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Run conflict-of-interest 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370332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Send judges the finalist list. Ask them to flag any investment, advisory role, or personal connection. Reassign flagged startups to an alternate judge.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096512"/>
            <a:ext cx="83210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521208" y="4251960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521208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1696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Freeze &amp; activate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442569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Chief judge approves the matrix. Judge portals are activated with only their assigned decks visible. Each judge receives a personalised assignment email.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800600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521208" y="48463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Overflow: If 30+ startups share one sector but only 1 judge has expertise, distribute the overflow to generalist judges with a one-page sector guide.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3  ·  PART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Agentic AI Approach: Matching Judges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977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4805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21208" y="1527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Pitch deck sector tagger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81965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Reads all 100 decks. Extracts problem statement, solution &amp; target market. Assigns sector tags with confidence scores. Flags &lt;70% confidence for human review.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3977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465429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27448" y="1527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Conflict-of-interest detector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7448" y="181965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Fetches each judge's portfolio (Crunchbase) and advisory roles (LinkedIn). Produces a 10×100 conflict matrix: 'clear', 'potential conflict', or 'flagged'.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51760"/>
            <a:ext cx="3977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448056" y="268833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21208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Matching optimiser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23697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Constraint-satisfaction algorithm: maximise domain match, ensure 2 judges per startup, eliminate conflicts, balance load (8–22 decks each). Runs in under 2 hours.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651760"/>
            <a:ext cx="3977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4617719" y="2651760"/>
            <a:ext cx="721043" cy="22860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654296" y="2688336"/>
            <a:ext cx="6217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A5E"/>
                </a:solidFill>
              </a:rPr>
              <a:t>Automated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27448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Portal access provisioner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27448" y="323697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On human approval: automatically unlocks each judge's portal with only their assigned decks. Sends personalised email with assignment list and 4-week deadline.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133088"/>
            <a:ext cx="8321040" cy="566928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594360" y="4233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A8"/>
                </a:solidFill>
              </a:rPr>
              <a:t>⏱  Time saving: 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4233672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What takes a human 2–3 days of spreadsheet work (tagging 100 decks, conflict checks, load balancing) takes the agentic system under 2 hours — with a cleaner audit trail.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773168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521208" y="481888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The matching matrix is never activated automatically. Chief judge must explicitly approve after reviewing conflict, match score, and diversity reports.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D4A">
              <a:alpha val="60000"/>
            </a:srgbClr>
          </a:solidFill>
          <a:ln w="12700">
            <a:solidFill>
              <a:srgbClr val="1A2D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</a:rPr>
              <a:t>TASK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Evaluating Pitch Decks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6334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CC"/>
                </a:solidFill>
              </a:rPr>
              <a:t>4-week async scoring window · 100-point rubric · dual independent judges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4  ·  PART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Human Approach: Evaluating Pitch Decks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5212080" cy="292608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548640" y="12710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Criterion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27101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Weight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2710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Visual weight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5212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Problem &amp; market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16184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20%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664208"/>
            <a:ext cx="3291840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411480" y="1947672"/>
            <a:ext cx="52120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48640" y="202082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Solution &amp; innovation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20208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25%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2066544"/>
            <a:ext cx="4114800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411480" y="2350008"/>
            <a:ext cx="5212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548640" y="242316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Business model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0" y="24231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20%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2468880"/>
            <a:ext cx="3291840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411480" y="2752344"/>
            <a:ext cx="52120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548640" y="282549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Traction &amp; validation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0" y="282549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15%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0" y="2871216"/>
            <a:ext cx="2468880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411480" y="3154680"/>
            <a:ext cx="5212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548640" y="322783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Team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0" y="32278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15%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0" y="3273552"/>
            <a:ext cx="2468880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411480" y="3557016"/>
            <a:ext cx="52120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548640" y="36301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Pitch quality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926080" y="3630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A8"/>
                </a:solidFill>
              </a:rPr>
              <a:t>5%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0" y="3675888"/>
            <a:ext cx="822960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5765292" y="1142999"/>
            <a:ext cx="2971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4" name="Shape 32"/>
          <p:cNvSpPr/>
          <p:nvPr/>
        </p:nvSpPr>
        <p:spPr>
          <a:xfrm>
            <a:off x="5760720" y="1152144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5929884" y="1234439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Calibration session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29884" y="1490471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60-min Zoom briefing for judges before scoring begins. Walk through rubric + 3 anonymised sample decks at different quality tiers.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2185416"/>
            <a:ext cx="2971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8" name="Shape 36"/>
          <p:cNvSpPr/>
          <p:nvPr/>
        </p:nvSpPr>
        <p:spPr>
          <a:xfrm>
            <a:off x="5760720" y="2185416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5925312" y="227685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Async scoring window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25312" y="25328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4 weeks (Apr–May 2027). Each judge reviews 10–20 decks at ~12–15 min each. Mandatory comment per criterion.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60720" y="3136392"/>
            <a:ext cx="2971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2" name="Shape 40"/>
          <p:cNvSpPr/>
          <p:nvPr/>
        </p:nvSpPr>
        <p:spPr>
          <a:xfrm>
            <a:off x="5760720" y="3136392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5925312" y="32278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Progress tracking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25312" y="34838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Operations lead monitors completion weekly. Reminders at week 2; escalation at week 3 if below 70% complete.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60720" y="4087368"/>
            <a:ext cx="2971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6" name="Shape 44"/>
          <p:cNvSpPr/>
          <p:nvPr/>
        </p:nvSpPr>
        <p:spPr>
          <a:xfrm>
            <a:off x="5760720" y="4087368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5925312" y="41788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Anomaly review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925312" y="4434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If two judges' scores on the same startup differ by &gt;15 points, the chief judge reviews both scoresheets.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4773168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521208" y="481888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Judges score 1–5 per criterion independently. They cannot see each other's scores until deliberation.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4  ·  PART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Agentic AI Approach: Evaluating Pitch Decks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4805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Deck summariser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Generates a 1-page structured summary per deck: problem, solution, market, business model, traction, team. Labelled 'AI-generated — for orientation only'. Cuts judge prep time from ~5 min to ~1 min per deck.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323697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Scoring anomaly detector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After all scores submitted: (1) inter-rater gap &gt;15 pts flagged; (2) score compression (range &lt;20 pts) flagged; (3) statistical outliers in top/bottom 5% reported. All sent to chief judge.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234440"/>
            <a:ext cx="2651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5989320" y="1234440"/>
            <a:ext cx="658368" cy="22860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025896" y="1271016"/>
            <a:ext cx="6217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A5E"/>
                </a:solidFill>
              </a:rPr>
              <a:t>Automated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Judge progress tracker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Weekly completion reports per judge. Auto-reminder at week 2 if below 50%. Personal escalation at week 3 if below 70%. Routes unfinished decks to reserve judge at close.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39776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822960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48056" y="2825496"/>
            <a:ext cx="7498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21208" y="30632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Feedback quality reviewer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336499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Checks each comment field: minimum 10 words, must reference something specific. Prompts judge to elaborate before submission is accepted — protecting feedback quality for all 100 finalists.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788920"/>
            <a:ext cx="39776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822960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4654296" y="2825496"/>
            <a:ext cx="7498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27448" y="30632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Score normalisation 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36499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If systematic bias detected, optionally applies per-judge z-score normalisation. Shows original AND adjusted scores to chief judge for explicit approval or rejection before rankings run.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251960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521208" y="42976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CRITICAL: The AI never scores a pitch deck. Scores 1–5 per criterion are entered exclusively by human judges. This rule is enforced at the portal level.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D4A">
              <a:alpha val="60000"/>
            </a:srgbClr>
          </a:solidFill>
          <a:ln w="12700">
            <a:solidFill>
              <a:srgbClr val="1A2D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31520" cy="7315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45309"/>
                </a:solidFill>
              </a:rPr>
              <a:t>TASK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Choosing the Top 10 Winners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6334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CC"/>
                </a:solidFill>
              </a:rPr>
              <a:t>Quantitative ranking + deliberation panel + secret ballot → results 30 Jun 2027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5  ·  PART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Human Approach: Selecting Winners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840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84048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A — Score-ranked longlist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3520440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Compute weighted average from dual-judge scores for all 100 startups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Rank from highest to lowest — top 20 advance to shortlist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Diversity scan: check if top 20 is skewed by sector, region, or university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If score tie at 20/21, both teams advance (temporary shortlist of 21)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4343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4343400" cy="29260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26280" y="12618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B — Deliberation panel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1591056"/>
            <a:ext cx="4041648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3-hour virtual or in-person session chaired by the chief judge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Champion/challenge format: 2 min to advocate, 1 min to challenge per team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Secret simultaneous ballot — teams with 6+ votes confirmed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Chief judge holds casting vote for unresolvable ties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Winners notified privately 5 days before the 30 Jun public announcement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767328"/>
            <a:ext cx="8321040" cy="9326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94360" y="38587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Prize structure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105656"/>
            <a:ext cx="192024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411480" y="42245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</a:rPr>
              <a:t>Champion (1st)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41655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Cash prize + SMU accelerator + mentorship + trophy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96312" y="4105656"/>
            <a:ext cx="1920240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2496312" y="42245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</a:rPr>
              <a:t>Excellence (2nd &amp; 3rd)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96312" y="441655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Cash prizes + co-working credits + investor intros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81144" y="4105656"/>
            <a:ext cx="1920240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581144" y="42245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5E"/>
                </a:solidFill>
              </a:rPr>
              <a:t>Top 10 recognition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81144" y="441655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Certificate + website feature + network access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65976" y="4105656"/>
            <a:ext cx="192024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6665976" y="42245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Category awards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65976" y="441655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Best Social Impact, Best DeepTech, People's Choice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773168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521208" y="481888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Announce all 100 finalists publicly on 30 Jun 2027 alongside the top 10 — every finalist gains a prestigious credential regardless of final ranking.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TASK 5  ·  PART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Agentic AI Approach: Selecting Winners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4805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Ranking &amp; shortlist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Computes weighted averages, applies approved normalisation, produces ranked leaderboard and top-20 shortlist with per-criterion score breakdown PDFs.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323697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Deliberation brief writer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1-page brief per top-20 team: strongest/weakest criteria, key judge comment quotes, how the team compares to similar startups in the pool.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234440"/>
            <a:ext cx="2651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5989320" y="1234440"/>
            <a:ext cx="658368" cy="228600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025896" y="12710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A8"/>
                </a:solidFill>
              </a:rPr>
              <a:t>AI Agent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Diversity &amp; balance analyser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Analyses top 20 across sector, geography, university tier &amp; gender. Reports imbalances to chief judge before deliberation — an informed choice, not a blind one.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39776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822960" cy="22860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48056" y="2825496"/>
            <a:ext cx="7498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A5E"/>
                </a:solidFill>
              </a:rPr>
              <a:t>Automated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21208" y="30632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Winner comms bundle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336499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Auto-generates winner notification emails, press release draft, website copy, and LinkedIn/X posts in 3 tones. All require director sign-off before any are sent.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788920"/>
            <a:ext cx="39776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822960" cy="22860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4654296" y="2825496"/>
            <a:ext cx="7498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A5E"/>
                </a:solidFill>
              </a:rPr>
              <a:t>Automated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27448" y="30632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Feedback report generator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36499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For all 100 finalists: personalised report with per-criterion scores, anonymised judge comments, and relative pool ranking. Distributed on announcement day.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251960"/>
            <a:ext cx="83210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521208" y="42976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⚑ Guardrail  </a:t>
            </a:r>
            <a:r>
              <a:rPr lang="en-US" sz="1050" dirty="0">
                <a:solidFill>
                  <a:srgbClr val="78350F"/>
                </a:solidFill>
              </a:rPr>
              <a:t>CRITICAL: The final top-10 decision is made exclusively by judges via secret ballot. AI ranks and briefs — it never recommends who should win.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A8"/>
                </a:solidFill>
              </a:rPr>
              <a:t>AI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Agentic AI Guardrail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931920" cy="3291840"/>
          </a:xfrm>
          <a:prstGeom prst="rect">
            <a:avLst/>
          </a:prstGeom>
          <a:solidFill>
            <a:srgbClr val="FFF1F1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93192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must NEVER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</a:rPr>
              <a:t>Never sends outreach emails or invitations autonomously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</a:rPr>
              <a:t>Never scores a pitch deck — scoring is exclusively a human function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</a:rPr>
              <a:t>Never activates the judge-participant matching matrix without chief judge approval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</a:rPr>
              <a:t>Never recommends who the top 10 winners should be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</a:rPr>
              <a:t>Never sends winner notifications or press releases without director sign-off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4251960" cy="3291840"/>
          </a:xfrm>
          <a:prstGeom prst="rect">
            <a:avLst/>
          </a:prstGeom>
          <a:solidFill>
            <a:srgbClr val="D4EFE6"/>
          </a:solidFill>
          <a:ln w="635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4251960" cy="310896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66344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may autonomously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609344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</a:rPr>
              <a:t>Auto-screen clearly eligible or ineligible applications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</a:rPr>
              <a:t>Send automated progress reminders to judges mid-scoring window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</a:rPr>
              <a:t>Generate feedback reports for all 100 finalists after results are confirmed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</a:rPr>
              <a:t>Produce weekly application pace reports and channel performance dashboards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</a:rPr>
              <a:t>Draft outreach copy, letters, and comms bundles — all pending human approval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solidFill>
            <a:srgbClr val="D6E4F7"/>
          </a:solidFill>
          <a:ln w="635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94360" y="46908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A8"/>
                </a:solidFill>
              </a:rPr>
              <a:t>Core principle: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45920" y="469087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</a:rPr>
              <a:t>AI handles research, drafting, tracking, and computation. All consequential decisions — who to invite, who wins, what to send — remain with human organizers and judges.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E3A6A">
              <a:alpha val="60000"/>
            </a:srgbClr>
          </a:solidFill>
          <a:ln w="12700">
            <a:solidFill>
              <a:srgbClr val="1E3A6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7CB9F0"/>
                </a:solidFill>
              </a:rPr>
              <a:t>Ready to launch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SMU Student Startup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Competition 2027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563A8"/>
                </a:solidFill>
              </a:rPr>
              <a:t>100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</a:rPr>
              <a:t>Global finalists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33375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7A5E"/>
                </a:solidFill>
              </a:rPr>
              <a:t>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4612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</a:rPr>
              <a:t>Expert judges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33375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45309"/>
                </a:solidFill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8932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</a:rPr>
              <a:t>AI-augmented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502920" y="475488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Singapore Management University  ·  Applications open 1 January 2027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0E33F0-C7EC-4DA1-9509-DB9A2A00FEC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28315f0f-8151-44fb-a544-f5ef735aa8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2348</Words>
  <Application>Microsoft Office PowerPoint</Application>
  <PresentationFormat>On-screen Show (16:9)</PresentationFormat>
  <Paragraphs>314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SMU Student Startup Competition 2027</dc:title>
  <dc:subject>PptxGenJS Presentation</dc:subject>
  <dc:creator>PptxGenJS</dc:creator>
  <cp:lastModifiedBy>WU Jiayan</cp:lastModifiedBy>
  <cp:revision>1</cp:revision>
  <dcterms:created xsi:type="dcterms:W3CDTF">2026-06-08T00:56:19Z</dcterms:created>
  <dcterms:modified xsi:type="dcterms:W3CDTF">2026-06-08T01:09:08Z</dcterms:modified>
</cp:coreProperties>
</file>